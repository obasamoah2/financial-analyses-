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2339975" cy="914400"/>
  <p:notesSz cx="6858000" cy="9144000"/>
  <p:defaultTextStyle>
    <a:defPPr>
      <a:defRPr lang="en-US"/>
    </a:defPPr>
    <a:lvl1pPr marL="0" algn="l" defTabSz="236969" rtl="0" eaLnBrk="1" latinLnBrk="0" hangingPunct="1">
      <a:defRPr sz="467" kern="1200">
        <a:solidFill>
          <a:schemeClr val="tx1"/>
        </a:solidFill>
        <a:latin typeface="+mn-lt"/>
        <a:ea typeface="+mn-ea"/>
        <a:cs typeface="+mn-cs"/>
      </a:defRPr>
    </a:lvl1pPr>
    <a:lvl2pPr marL="118485" algn="l" defTabSz="236969" rtl="0" eaLnBrk="1" latinLnBrk="0" hangingPunct="1">
      <a:defRPr sz="467" kern="1200">
        <a:solidFill>
          <a:schemeClr val="tx1"/>
        </a:solidFill>
        <a:latin typeface="+mn-lt"/>
        <a:ea typeface="+mn-ea"/>
        <a:cs typeface="+mn-cs"/>
      </a:defRPr>
    </a:lvl2pPr>
    <a:lvl3pPr marL="236969" algn="l" defTabSz="236969" rtl="0" eaLnBrk="1" latinLnBrk="0" hangingPunct="1">
      <a:defRPr sz="467" kern="1200">
        <a:solidFill>
          <a:schemeClr val="tx1"/>
        </a:solidFill>
        <a:latin typeface="+mn-lt"/>
        <a:ea typeface="+mn-ea"/>
        <a:cs typeface="+mn-cs"/>
      </a:defRPr>
    </a:lvl3pPr>
    <a:lvl4pPr marL="355454" algn="l" defTabSz="236969" rtl="0" eaLnBrk="1" latinLnBrk="0" hangingPunct="1">
      <a:defRPr sz="467" kern="1200">
        <a:solidFill>
          <a:schemeClr val="tx1"/>
        </a:solidFill>
        <a:latin typeface="+mn-lt"/>
        <a:ea typeface="+mn-ea"/>
        <a:cs typeface="+mn-cs"/>
      </a:defRPr>
    </a:lvl4pPr>
    <a:lvl5pPr marL="473938" algn="l" defTabSz="236969" rtl="0" eaLnBrk="1" latinLnBrk="0" hangingPunct="1">
      <a:defRPr sz="467" kern="1200">
        <a:solidFill>
          <a:schemeClr val="tx1"/>
        </a:solidFill>
        <a:latin typeface="+mn-lt"/>
        <a:ea typeface="+mn-ea"/>
        <a:cs typeface="+mn-cs"/>
      </a:defRPr>
    </a:lvl5pPr>
    <a:lvl6pPr marL="592423" algn="l" defTabSz="236969" rtl="0" eaLnBrk="1" latinLnBrk="0" hangingPunct="1">
      <a:defRPr sz="467" kern="1200">
        <a:solidFill>
          <a:schemeClr val="tx1"/>
        </a:solidFill>
        <a:latin typeface="+mn-lt"/>
        <a:ea typeface="+mn-ea"/>
        <a:cs typeface="+mn-cs"/>
      </a:defRPr>
    </a:lvl6pPr>
    <a:lvl7pPr marL="710908" algn="l" defTabSz="236969" rtl="0" eaLnBrk="1" latinLnBrk="0" hangingPunct="1">
      <a:defRPr sz="467" kern="1200">
        <a:solidFill>
          <a:schemeClr val="tx1"/>
        </a:solidFill>
        <a:latin typeface="+mn-lt"/>
        <a:ea typeface="+mn-ea"/>
        <a:cs typeface="+mn-cs"/>
      </a:defRPr>
    </a:lvl7pPr>
    <a:lvl8pPr marL="829392" algn="l" defTabSz="236969" rtl="0" eaLnBrk="1" latinLnBrk="0" hangingPunct="1">
      <a:defRPr sz="467" kern="1200">
        <a:solidFill>
          <a:schemeClr val="tx1"/>
        </a:solidFill>
        <a:latin typeface="+mn-lt"/>
        <a:ea typeface="+mn-ea"/>
        <a:cs typeface="+mn-cs"/>
      </a:defRPr>
    </a:lvl8pPr>
    <a:lvl9pPr marL="947877" algn="l" defTabSz="236969" rtl="0" eaLnBrk="1" latinLnBrk="0" hangingPunct="1">
      <a:defRPr sz="4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67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2322" y="1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497" y="149648"/>
            <a:ext cx="1754981" cy="318347"/>
          </a:xfrm>
        </p:spPr>
        <p:txBody>
          <a:bodyPr anchor="b"/>
          <a:lstStyle>
            <a:lvl1pPr algn="ctr">
              <a:defRPr sz="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97" y="480272"/>
            <a:ext cx="1754981" cy="220768"/>
          </a:xfrm>
        </p:spPr>
        <p:txBody>
          <a:bodyPr/>
          <a:lstStyle>
            <a:lvl1pPr marL="0" indent="0" algn="ctr">
              <a:buNone/>
              <a:defRPr sz="320"/>
            </a:lvl1pPr>
            <a:lvl2pPr marL="60945" indent="0" algn="ctr">
              <a:buNone/>
              <a:defRPr sz="267"/>
            </a:lvl2pPr>
            <a:lvl3pPr marL="121890" indent="0" algn="ctr">
              <a:buNone/>
              <a:defRPr sz="240"/>
            </a:lvl3pPr>
            <a:lvl4pPr marL="182834" indent="0" algn="ctr">
              <a:buNone/>
              <a:defRPr sz="213"/>
            </a:lvl4pPr>
            <a:lvl5pPr marL="243779" indent="0" algn="ctr">
              <a:buNone/>
              <a:defRPr sz="213"/>
            </a:lvl5pPr>
            <a:lvl6pPr marL="304724" indent="0" algn="ctr">
              <a:buNone/>
              <a:defRPr sz="213"/>
            </a:lvl6pPr>
            <a:lvl7pPr marL="365669" indent="0" algn="ctr">
              <a:buNone/>
              <a:defRPr sz="213"/>
            </a:lvl7pPr>
            <a:lvl8pPr marL="426613" indent="0" algn="ctr">
              <a:buNone/>
              <a:defRPr sz="213"/>
            </a:lvl8pPr>
            <a:lvl9pPr marL="487558" indent="0" algn="ctr">
              <a:buNone/>
              <a:defRPr sz="21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308E-38B8-4279-AA91-158EF70805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2F53-AAA2-4DA8-844C-39F7FB94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4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308E-38B8-4279-AA91-158EF70805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2F53-AAA2-4DA8-844C-39F7FB94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8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55" y="227965"/>
            <a:ext cx="2018228" cy="380365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655" y="611928"/>
            <a:ext cx="2018228" cy="200025"/>
          </a:xfrm>
        </p:spPr>
        <p:txBody>
          <a:bodyPr/>
          <a:lstStyle>
            <a:lvl1pPr marL="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1pPr>
            <a:lvl2pPr marL="60945" indent="0">
              <a:buNone/>
              <a:defRPr sz="267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40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308E-38B8-4279-AA91-158EF70805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2F53-AAA2-4DA8-844C-39F7FB94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873" y="243417"/>
            <a:ext cx="994489" cy="58017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4613" y="243417"/>
            <a:ext cx="994489" cy="58017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308E-38B8-4279-AA91-158EF70805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2F53-AAA2-4DA8-844C-39F7FB94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09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" y="48683"/>
            <a:ext cx="2018228" cy="17674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178" y="224155"/>
            <a:ext cx="989919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178" y="334010"/>
            <a:ext cx="989919" cy="49127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4612" y="224155"/>
            <a:ext cx="994794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4612" y="334010"/>
            <a:ext cx="994794" cy="49127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308E-38B8-4279-AA91-158EF70805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2F53-AAA2-4DA8-844C-39F7FB94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3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308E-38B8-4279-AA91-158EF70805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2F53-AAA2-4DA8-844C-39F7FB94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8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308E-38B8-4279-AA91-158EF70805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2F53-AAA2-4DA8-844C-39F7FB94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2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" y="60960"/>
            <a:ext cx="754703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794" y="131657"/>
            <a:ext cx="1184612" cy="649817"/>
          </a:xfrm>
        </p:spPr>
        <p:txBody>
          <a:bodyPr/>
          <a:lstStyle>
            <a:lvl1pPr>
              <a:defRPr sz="427"/>
            </a:lvl1pPr>
            <a:lvl2pPr>
              <a:defRPr sz="373"/>
            </a:lvl2pPr>
            <a:lvl3pPr>
              <a:defRPr sz="320"/>
            </a:lvl3pPr>
            <a:lvl4pPr>
              <a:defRPr sz="267"/>
            </a:lvl4pPr>
            <a:lvl5pPr>
              <a:defRPr sz="267"/>
            </a:lvl5pPr>
            <a:lvl6pPr>
              <a:defRPr sz="267"/>
            </a:lvl6pPr>
            <a:lvl7pPr>
              <a:defRPr sz="267"/>
            </a:lvl7pPr>
            <a:lvl8pPr>
              <a:defRPr sz="267"/>
            </a:lvl8pPr>
            <a:lvl9pPr>
              <a:defRPr sz="26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" y="274320"/>
            <a:ext cx="754703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308E-38B8-4279-AA91-158EF70805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2F53-AAA2-4DA8-844C-39F7FB94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2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" y="60960"/>
            <a:ext cx="754703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4794" y="131657"/>
            <a:ext cx="1184612" cy="649817"/>
          </a:xfrm>
        </p:spPr>
        <p:txBody>
          <a:bodyPr anchor="t"/>
          <a:lstStyle>
            <a:lvl1pPr marL="0" indent="0">
              <a:buNone/>
              <a:defRPr sz="427"/>
            </a:lvl1pPr>
            <a:lvl2pPr marL="60945" indent="0">
              <a:buNone/>
              <a:defRPr sz="373"/>
            </a:lvl2pPr>
            <a:lvl3pPr marL="121890" indent="0">
              <a:buNone/>
              <a:defRPr sz="320"/>
            </a:lvl3pPr>
            <a:lvl4pPr marL="182834" indent="0">
              <a:buNone/>
              <a:defRPr sz="267"/>
            </a:lvl4pPr>
            <a:lvl5pPr marL="243779" indent="0">
              <a:buNone/>
              <a:defRPr sz="267"/>
            </a:lvl5pPr>
            <a:lvl6pPr marL="304724" indent="0">
              <a:buNone/>
              <a:defRPr sz="267"/>
            </a:lvl6pPr>
            <a:lvl7pPr marL="365669" indent="0">
              <a:buNone/>
              <a:defRPr sz="267"/>
            </a:lvl7pPr>
            <a:lvl8pPr marL="426613" indent="0">
              <a:buNone/>
              <a:defRPr sz="267"/>
            </a:lvl8pPr>
            <a:lvl9pPr marL="487558" indent="0">
              <a:buNone/>
              <a:defRPr sz="26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" y="274320"/>
            <a:ext cx="754703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308E-38B8-4279-AA91-158EF70805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2F53-AAA2-4DA8-844C-39F7FB94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2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308E-38B8-4279-AA91-158EF70805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2F53-AAA2-4DA8-844C-39F7FB94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7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74545" y="48683"/>
            <a:ext cx="504557" cy="7749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873" y="48683"/>
            <a:ext cx="1484422" cy="7749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308E-38B8-4279-AA91-158EF70805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2F53-AAA2-4DA8-844C-39F7FB94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6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874" y="48683"/>
            <a:ext cx="2018228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874" y="243417"/>
            <a:ext cx="2018228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0873" y="847514"/>
            <a:ext cx="526494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D308E-38B8-4279-AA91-158EF70805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5117" y="847514"/>
            <a:ext cx="789742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2608" y="847514"/>
            <a:ext cx="526494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92F53-AAA2-4DA8-844C-39F7FB94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7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121890" rtl="0" eaLnBrk="1" latinLnBrk="0" hangingPunct="1">
        <a:lnSpc>
          <a:spcPct val="90000"/>
        </a:lnSpc>
        <a:spcBef>
          <a:spcPct val="0"/>
        </a:spcBef>
        <a:buNone/>
        <a:defRPr sz="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" indent="-30472" algn="l" defTabSz="1218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1pPr>
      <a:lvl2pPr marL="9141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2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0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9614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1pPr>
      <a:lvl2pPr marL="60945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574" y="-605971"/>
            <a:ext cx="2861449" cy="212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7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574" y="-605972"/>
            <a:ext cx="2869346" cy="212634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39612" y="418045"/>
            <a:ext cx="2527131" cy="1032739"/>
          </a:xfrm>
          <a:prstGeom prst="rect">
            <a:avLst/>
          </a:prstGeom>
          <a:solidFill>
            <a:schemeClr val="accent4">
              <a:lumMod val="75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048" tIns="41024" rIns="82048" bIns="410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497" b="1" dirty="0"/>
              <a:t>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97" dirty="0"/>
              <a:t>Founded</a:t>
            </a:r>
            <a:r>
              <a:rPr lang="en-GB" sz="497" b="1" dirty="0"/>
              <a:t>:</a:t>
            </a:r>
            <a:r>
              <a:rPr lang="en-GB" sz="497" dirty="0"/>
              <a:t> </a:t>
            </a:r>
            <a:r>
              <a:rPr lang="en-GB" sz="497" dirty="0"/>
              <a:t>1960 , Headquarters</a:t>
            </a:r>
            <a:r>
              <a:rPr lang="en-GB" sz="497" dirty="0"/>
              <a:t>: Kumasi, Ghana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97" dirty="0"/>
              <a:t>Industry</a:t>
            </a:r>
            <a:r>
              <a:rPr lang="en-GB" sz="497" b="1" dirty="0"/>
              <a:t>:</a:t>
            </a:r>
            <a:r>
              <a:rPr lang="en-GB" sz="497" dirty="0"/>
              <a:t> Beverage Manufacturing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97" dirty="0"/>
              <a:t>Stock Listing</a:t>
            </a:r>
            <a:r>
              <a:rPr lang="en-GB" sz="497" b="1" dirty="0"/>
              <a:t>:</a:t>
            </a:r>
            <a:r>
              <a:rPr lang="en-GB" sz="497" dirty="0"/>
              <a:t> Ghana Stock Exchange (</a:t>
            </a:r>
            <a:r>
              <a:rPr lang="en-GB" sz="497" dirty="0"/>
              <a:t>GSE)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97" b="1" dirty="0"/>
              <a:t>History</a:t>
            </a:r>
            <a:endParaRPr lang="en-GB" sz="497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97" dirty="0"/>
              <a:t>Established to promote Guinness Foreign Extra Stout in Ghana.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97" dirty="0"/>
              <a:t>Merged with Ghana Breweries Limited in 2004, expanding its product </a:t>
            </a:r>
            <a:r>
              <a:rPr lang="en-GB" sz="497" dirty="0"/>
              <a:t>portfolio. Listed </a:t>
            </a:r>
            <a:r>
              <a:rPr lang="en-GB" sz="497" dirty="0"/>
              <a:t>on the GSE in 1991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97" b="1" dirty="0"/>
              <a:t>Product and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97" dirty="0"/>
              <a:t>Operations, Distributions  ,Workforce</a:t>
            </a:r>
            <a:endParaRPr lang="en-GB" sz="497" dirty="0"/>
          </a:p>
          <a:p>
            <a:r>
              <a:rPr lang="en-GB" sz="497" b="1" dirty="0"/>
              <a:t>Sustainability and Community Engagement </a:t>
            </a:r>
            <a:r>
              <a:rPr lang="en-GB" sz="497" b="1" dirty="0"/>
              <a:t>:</a:t>
            </a:r>
            <a:r>
              <a:rPr lang="en-GB" sz="497" dirty="0"/>
              <a:t>Local </a:t>
            </a:r>
            <a:r>
              <a:rPr lang="en-GB" sz="497" dirty="0" err="1"/>
              <a:t>sourcing,Environmental</a:t>
            </a:r>
            <a:r>
              <a:rPr lang="en-GB" sz="497" dirty="0"/>
              <a:t> initiative Community programs</a:t>
            </a:r>
            <a:endParaRPr lang="en-GB" sz="497" dirty="0"/>
          </a:p>
        </p:txBody>
      </p:sp>
    </p:spTree>
    <p:extLst>
      <p:ext uri="{BB962C8B-B14F-4D97-AF65-F5344CB8AC3E}">
        <p14:creationId xmlns:p14="http://schemas.microsoft.com/office/powerpoint/2010/main" val="215797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574" y="-613169"/>
            <a:ext cx="2835125" cy="21033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04" y="-496028"/>
            <a:ext cx="2169019" cy="11837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4" name="Rectangle 3"/>
          <p:cNvSpPr/>
          <p:nvPr/>
        </p:nvSpPr>
        <p:spPr>
          <a:xfrm>
            <a:off x="318399" y="770063"/>
            <a:ext cx="247449" cy="286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613" dirty="0"/>
          </a:p>
        </p:txBody>
      </p:sp>
      <p:sp>
        <p:nvSpPr>
          <p:cNvPr id="5" name="Rectangle 4"/>
          <p:cNvSpPr/>
          <p:nvPr/>
        </p:nvSpPr>
        <p:spPr>
          <a:xfrm>
            <a:off x="694835" y="777963"/>
            <a:ext cx="317303" cy="2869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497" dirty="0"/>
              <a:t>DISTRIBUTION</a:t>
            </a:r>
            <a:endParaRPr lang="en-US" sz="497" dirty="0"/>
          </a:p>
        </p:txBody>
      </p:sp>
      <p:sp>
        <p:nvSpPr>
          <p:cNvPr id="6" name="Rectangle 5"/>
          <p:cNvSpPr/>
          <p:nvPr/>
        </p:nvSpPr>
        <p:spPr>
          <a:xfrm>
            <a:off x="1071271" y="783232"/>
            <a:ext cx="308085" cy="2869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497" dirty="0"/>
              <a:t>INNOVATION</a:t>
            </a:r>
            <a:endParaRPr lang="en-US" sz="497" dirty="0"/>
          </a:p>
        </p:txBody>
      </p:sp>
      <p:sp>
        <p:nvSpPr>
          <p:cNvPr id="7" name="Rectangle 6"/>
          <p:cNvSpPr/>
          <p:nvPr/>
        </p:nvSpPr>
        <p:spPr>
          <a:xfrm>
            <a:off x="1447708" y="785867"/>
            <a:ext cx="308085" cy="2869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497" dirty="0"/>
              <a:t>MARKETLEADERSHIP</a:t>
            </a:r>
            <a:endParaRPr lang="en-US" sz="497" dirty="0"/>
          </a:p>
        </p:txBody>
      </p:sp>
      <p:sp>
        <p:nvSpPr>
          <p:cNvPr id="10" name="Rectangle 9"/>
          <p:cNvSpPr/>
          <p:nvPr/>
        </p:nvSpPr>
        <p:spPr>
          <a:xfrm>
            <a:off x="318399" y="1156999"/>
            <a:ext cx="326521" cy="2869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497" dirty="0"/>
              <a:t>OWNERSHIP</a:t>
            </a:r>
            <a:endParaRPr lang="en-US" sz="497" dirty="0"/>
          </a:p>
        </p:txBody>
      </p:sp>
      <p:sp>
        <p:nvSpPr>
          <p:cNvPr id="11" name="Rectangle 10"/>
          <p:cNvSpPr/>
          <p:nvPr/>
        </p:nvSpPr>
        <p:spPr>
          <a:xfrm>
            <a:off x="1071269" y="1163001"/>
            <a:ext cx="336586" cy="2869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497" dirty="0"/>
              <a:t>EFFICIENCY</a:t>
            </a:r>
            <a:endParaRPr lang="en-US" sz="497" dirty="0"/>
          </a:p>
        </p:txBody>
      </p:sp>
      <p:sp>
        <p:nvSpPr>
          <p:cNvPr id="12" name="Rectangle 11"/>
          <p:cNvSpPr/>
          <p:nvPr/>
        </p:nvSpPr>
        <p:spPr>
          <a:xfrm>
            <a:off x="692203" y="1158706"/>
            <a:ext cx="319935" cy="2869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497" dirty="0"/>
              <a:t>SUSTAINABILITY </a:t>
            </a:r>
            <a:endParaRPr lang="en-US" sz="497" dirty="0"/>
          </a:p>
        </p:txBody>
      </p:sp>
      <p:sp>
        <p:nvSpPr>
          <p:cNvPr id="13" name="Rectangle 12"/>
          <p:cNvSpPr/>
          <p:nvPr/>
        </p:nvSpPr>
        <p:spPr>
          <a:xfrm>
            <a:off x="1452973" y="1165626"/>
            <a:ext cx="354526" cy="2869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497" dirty="0"/>
              <a:t>INTEGRATION LOCAL</a:t>
            </a:r>
            <a:endParaRPr lang="en-US" sz="497" dirty="0"/>
          </a:p>
        </p:txBody>
      </p:sp>
      <p:sp>
        <p:nvSpPr>
          <p:cNvPr id="16" name="Rectangle 15"/>
          <p:cNvSpPr/>
          <p:nvPr/>
        </p:nvSpPr>
        <p:spPr>
          <a:xfrm>
            <a:off x="265751" y="693022"/>
            <a:ext cx="791045" cy="7704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60" dirty="0"/>
              <a:t>CORE OPERATION</a:t>
            </a:r>
            <a:endParaRPr lang="en-US" sz="560" dirty="0"/>
          </a:p>
        </p:txBody>
      </p:sp>
      <p:sp>
        <p:nvSpPr>
          <p:cNvPr id="17" name="Rectangle 16"/>
          <p:cNvSpPr/>
          <p:nvPr/>
        </p:nvSpPr>
        <p:spPr>
          <a:xfrm>
            <a:off x="289445" y="1064201"/>
            <a:ext cx="791045" cy="7704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97" dirty="0"/>
              <a:t>Recent Developments </a:t>
            </a:r>
            <a:endParaRPr lang="en-US" sz="497" dirty="0"/>
          </a:p>
        </p:txBody>
      </p:sp>
      <p:sp>
        <p:nvSpPr>
          <p:cNvPr id="18" name="Rectangle 17"/>
          <p:cNvSpPr/>
          <p:nvPr/>
        </p:nvSpPr>
        <p:spPr>
          <a:xfrm>
            <a:off x="318397" y="770068"/>
            <a:ext cx="326522" cy="286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497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8396" y="770065"/>
            <a:ext cx="317304" cy="294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97" dirty="0"/>
              <a:t>MANUFACTURING</a:t>
            </a:r>
            <a:endParaRPr lang="en-US" sz="497" dirty="0"/>
          </a:p>
        </p:txBody>
      </p:sp>
    </p:spTree>
    <p:extLst>
      <p:ext uri="{BB962C8B-B14F-4D97-AF65-F5344CB8AC3E}">
        <p14:creationId xmlns:p14="http://schemas.microsoft.com/office/powerpoint/2010/main" val="189669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978" y="-629662"/>
            <a:ext cx="2892528" cy="21500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3710" y="994548"/>
            <a:ext cx="539648" cy="5001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97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EVARONMENTA</a:t>
            </a:r>
          </a:p>
          <a:p>
            <a:pPr algn="ctr"/>
            <a:r>
              <a:rPr lang="en-GB" sz="497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Renewable energy, water management, plastic waste reduction,</a:t>
            </a:r>
            <a:endParaRPr lang="en-US" sz="497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53135" y="999810"/>
            <a:ext cx="539648" cy="5001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97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GOVERNMENT</a:t>
            </a:r>
          </a:p>
          <a:p>
            <a:pPr algn="ctr"/>
            <a:r>
              <a:rPr lang="en-GB" sz="497" dirty="0">
                <a:solidFill>
                  <a:schemeClr val="tx1">
                    <a:lumMod val="95000"/>
                    <a:lumOff val="5000"/>
                  </a:schemeClr>
                </a:solidFill>
              </a:rPr>
              <a:t>Ethical Standards, Sustainability Goals, Recognition</a:t>
            </a:r>
            <a:endParaRPr lang="en-US" sz="497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89729" y="996524"/>
            <a:ext cx="539648" cy="5001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13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SOCIA</a:t>
            </a:r>
            <a:r>
              <a:rPr lang="en-GB" sz="613" dirty="0">
                <a:solidFill>
                  <a:schemeClr val="tx1">
                    <a:lumMod val="95000"/>
                    <a:lumOff val="5000"/>
                  </a:schemeClr>
                </a:solidFill>
              </a:rPr>
              <a:t>L</a:t>
            </a:r>
          </a:p>
          <a:p>
            <a:pPr algn="ctr"/>
            <a:r>
              <a:rPr lang="en-GB" sz="497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Community Engagement, Health and Safety, Education</a:t>
            </a:r>
            <a:endParaRPr lang="en-US" sz="497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00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574" y="-611235"/>
            <a:ext cx="2835124" cy="21348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27766" y="-63692"/>
            <a:ext cx="436983" cy="4738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97" dirty="0">
                <a:solidFill>
                  <a:schemeClr val="tx1"/>
                </a:solidFill>
              </a:rPr>
              <a:t>Market Size and Growth</a:t>
            </a:r>
            <a:endParaRPr lang="en-US" sz="497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3729" y="-58425"/>
            <a:ext cx="436983" cy="4738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60" dirty="0">
                <a:solidFill>
                  <a:schemeClr val="tx1"/>
                </a:solidFill>
              </a:rPr>
              <a:t>Key Competitors</a:t>
            </a:r>
            <a:endParaRPr lang="en-US" sz="56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-39613" y="699715"/>
            <a:ext cx="436983" cy="4738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97" dirty="0">
                <a:solidFill>
                  <a:schemeClr val="bg2">
                    <a:lumMod val="10000"/>
                  </a:schemeClr>
                </a:solidFill>
              </a:rPr>
              <a:t>Ghana Stock Exchange</a:t>
            </a:r>
          </a:p>
          <a:p>
            <a:pPr algn="ctr"/>
            <a:r>
              <a:rPr lang="en-GB" sz="497" dirty="0">
                <a:solidFill>
                  <a:schemeClr val="bg2">
                    <a:lumMod val="10000"/>
                  </a:schemeClr>
                </a:solidFill>
              </a:rPr>
              <a:t>Highlights </a:t>
            </a:r>
            <a:endParaRPr lang="en-US" sz="497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84273" y="699715"/>
            <a:ext cx="436983" cy="4738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97" dirty="0">
                <a:solidFill>
                  <a:schemeClr val="tx1"/>
                </a:solidFill>
              </a:rPr>
              <a:t>Stock Performance</a:t>
            </a:r>
            <a:endParaRPr lang="en-US" sz="497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-31648" y="-463988"/>
            <a:ext cx="1421511" cy="15114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13" dirty="0">
                <a:solidFill>
                  <a:schemeClr val="tx1"/>
                </a:solidFill>
              </a:rPr>
              <a:t>Market Overview</a:t>
            </a:r>
            <a:endParaRPr lang="en-US" sz="613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35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574" y="-605971"/>
            <a:ext cx="2835125" cy="185984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2461" y="-375965"/>
            <a:ext cx="535781" cy="6738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652460" y="362020"/>
            <a:ext cx="535781" cy="6738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395413" y="-375965"/>
            <a:ext cx="535781" cy="6738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416843" y="348920"/>
            <a:ext cx="535781" cy="6738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35781" y="-541881"/>
            <a:ext cx="1571625" cy="10182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MACROECONOMIC ANALYSIS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9587" y="1073805"/>
            <a:ext cx="1571625" cy="15954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IMPLICATIONS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62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</TotalTime>
  <Words>129</Words>
  <Application>Microsoft Office PowerPoint</Application>
  <PresentationFormat>Custom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PREMPEH II LIB</dc:creator>
  <cp:lastModifiedBy>PREMPEH II LIB</cp:lastModifiedBy>
  <cp:revision>21</cp:revision>
  <dcterms:created xsi:type="dcterms:W3CDTF">2025-06-05T15:09:53Z</dcterms:created>
  <dcterms:modified xsi:type="dcterms:W3CDTF">2025-06-05T18:47:06Z</dcterms:modified>
</cp:coreProperties>
</file>